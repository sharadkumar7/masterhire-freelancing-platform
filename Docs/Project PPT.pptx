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81" r:id="rId6"/>
    <p:sldId id="282" r:id="rId7"/>
    <p:sldId id="262" r:id="rId8"/>
    <p:sldId id="287" r:id="rId9"/>
    <p:sldId id="295" r:id="rId10"/>
    <p:sldId id="293" r:id="rId11"/>
    <p:sldId id="296" r:id="rId12"/>
    <p:sldId id="289" r:id="rId13"/>
    <p:sldId id="290" r:id="rId14"/>
    <p:sldId id="291" r:id="rId15"/>
    <p:sldId id="292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3540A-FCAB-4E57-90A0-232B46311A58}" v="23" dt="2026-07-20T07:50:35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4" d="100"/>
          <a:sy n="84" d="100"/>
        </p:scale>
        <p:origin x="138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JOY PANTU" userId="bb1ba97dbf06e64d" providerId="LiveId" clId="{A6C059A4-7AC7-4744-86D7-FCFAC6CA4D4E}"/>
    <pc:docChg chg="undo custSel addSld delSld modSld sldOrd">
      <pc:chgData name="BIJOY PANTU" userId="bb1ba97dbf06e64d" providerId="LiveId" clId="{A6C059A4-7AC7-4744-86D7-FCFAC6CA4D4E}" dt="2026-07-20T07:54:17.905" v="815" actId="20577"/>
      <pc:docMkLst>
        <pc:docMk/>
      </pc:docMkLst>
      <pc:sldChg chg="modSp mod">
        <pc:chgData name="BIJOY PANTU" userId="bb1ba97dbf06e64d" providerId="LiveId" clId="{A6C059A4-7AC7-4744-86D7-FCFAC6CA4D4E}" dt="2026-07-19T06:20:12.121" v="668" actId="20577"/>
        <pc:sldMkLst>
          <pc:docMk/>
          <pc:sldMk cId="0" sldId="257"/>
        </pc:sldMkLst>
        <pc:spChg chg="mod">
          <ac:chgData name="BIJOY PANTU" userId="bb1ba97dbf06e64d" providerId="LiveId" clId="{A6C059A4-7AC7-4744-86D7-FCFAC6CA4D4E}" dt="2026-07-16T18:23:04.973" v="666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BIJOY PANTU" userId="bb1ba97dbf06e64d" providerId="LiveId" clId="{A6C059A4-7AC7-4744-86D7-FCFAC6CA4D4E}" dt="2026-07-19T06:20:12.121" v="668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BIJOY PANTU" userId="bb1ba97dbf06e64d" providerId="LiveId" clId="{A6C059A4-7AC7-4744-86D7-FCFAC6CA4D4E}" dt="2026-07-20T07:14:43.362" v="687" actId="20577"/>
        <pc:sldMkLst>
          <pc:docMk/>
          <pc:sldMk cId="0" sldId="258"/>
        </pc:sldMkLst>
        <pc:spChg chg="mod">
          <ac:chgData name="BIJOY PANTU" userId="bb1ba97dbf06e64d" providerId="LiveId" clId="{A6C059A4-7AC7-4744-86D7-FCFAC6CA4D4E}" dt="2026-07-20T07:14:43.362" v="687" actId="20577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BIJOY PANTU" userId="bb1ba97dbf06e64d" providerId="LiveId" clId="{A6C059A4-7AC7-4744-86D7-FCFAC6CA4D4E}" dt="2026-07-20T07:53:42.874" v="808" actId="12789"/>
        <pc:sldMkLst>
          <pc:docMk/>
          <pc:sldMk cId="0" sldId="259"/>
        </pc:sldMkLst>
        <pc:spChg chg="mod">
          <ac:chgData name="BIJOY PANTU" userId="bb1ba97dbf06e64d" providerId="LiveId" clId="{A6C059A4-7AC7-4744-86D7-FCFAC6CA4D4E}" dt="2026-07-20T07:39:21.822" v="716" actId="14100"/>
          <ac:spMkLst>
            <pc:docMk/>
            <pc:sldMk cId="0" sldId="259"/>
            <ac:spMk id="4" creationId="{7C520BEC-EEDA-6A03-F941-C4CC12F6B114}"/>
          </ac:spMkLst>
        </pc:spChg>
        <pc:spChg chg="mod">
          <ac:chgData name="BIJOY PANTU" userId="bb1ba97dbf06e64d" providerId="LiveId" clId="{A6C059A4-7AC7-4744-86D7-FCFAC6CA4D4E}" dt="2026-07-20T07:52:53.785" v="798" actId="20577"/>
          <ac:spMkLst>
            <pc:docMk/>
            <pc:sldMk cId="0" sldId="259"/>
            <ac:spMk id="10" creationId="{CD5D1EB5-999F-07A6-6D4A-20CF175B75EF}"/>
          </ac:spMkLst>
        </pc:spChg>
        <pc:spChg chg="mod">
          <ac:chgData name="BIJOY PANTU" userId="bb1ba97dbf06e64d" providerId="LiveId" clId="{A6C059A4-7AC7-4744-86D7-FCFAC6CA4D4E}" dt="2026-07-20T07:53:25.486" v="805" actId="14100"/>
          <ac:spMkLst>
            <pc:docMk/>
            <pc:sldMk cId="0" sldId="259"/>
            <ac:spMk id="11" creationId="{17F1F044-D0BE-C8DA-A98B-206231927279}"/>
          </ac:spMkLst>
        </pc:spChg>
        <pc:grpChg chg="mod">
          <ac:chgData name="BIJOY PANTU" userId="bb1ba97dbf06e64d" providerId="LiveId" clId="{A6C059A4-7AC7-4744-86D7-FCFAC6CA4D4E}" dt="2026-07-20T07:53:42.874" v="808" actId="12789"/>
          <ac:grpSpMkLst>
            <pc:docMk/>
            <pc:sldMk cId="0" sldId="259"/>
            <ac:grpSpMk id="13" creationId="{AB5E2816-9EEA-67F2-1CD9-D9AFBAA25A06}"/>
          </ac:grpSpMkLst>
        </pc:grpChg>
        <pc:grpChg chg="del">
          <ac:chgData name="BIJOY PANTU" userId="bb1ba97dbf06e64d" providerId="LiveId" clId="{A6C059A4-7AC7-4744-86D7-FCFAC6CA4D4E}" dt="2026-07-20T07:21:18.774" v="700" actId="478"/>
          <ac:grpSpMkLst>
            <pc:docMk/>
            <pc:sldMk cId="0" sldId="259"/>
            <ac:grpSpMk id="14" creationId="{4AB58C78-A9DF-A705-FC2F-A189E4B135D8}"/>
          </ac:grpSpMkLst>
        </pc:grpChg>
        <pc:grpChg chg="mod">
          <ac:chgData name="BIJOY PANTU" userId="bb1ba97dbf06e64d" providerId="LiveId" clId="{A6C059A4-7AC7-4744-86D7-FCFAC6CA4D4E}" dt="2026-07-20T07:53:34.014" v="806" actId="12789"/>
          <ac:grpSpMkLst>
            <pc:docMk/>
            <pc:sldMk cId="0" sldId="259"/>
            <ac:grpSpMk id="15" creationId="{C9C06211-605B-0F6F-4C55-AC173409DFB3}"/>
          </ac:grpSpMkLst>
        </pc:grpChg>
      </pc:sldChg>
      <pc:sldChg chg="modSp mod">
        <pc:chgData name="BIJOY PANTU" userId="bb1ba97dbf06e64d" providerId="LiveId" clId="{A6C059A4-7AC7-4744-86D7-FCFAC6CA4D4E}" dt="2026-07-20T07:54:17.905" v="815" actId="20577"/>
        <pc:sldMkLst>
          <pc:docMk/>
          <pc:sldMk cId="0" sldId="260"/>
        </pc:sldMkLst>
        <pc:spChg chg="mod">
          <ac:chgData name="BIJOY PANTU" userId="bb1ba97dbf06e64d" providerId="LiveId" clId="{A6C059A4-7AC7-4744-86D7-FCFAC6CA4D4E}" dt="2026-07-20T07:47:11.163" v="761" actId="12788"/>
          <ac:spMkLst>
            <pc:docMk/>
            <pc:sldMk cId="0" sldId="260"/>
            <ac:spMk id="5" creationId="{981C181A-91C9-9882-4CB5-B72ABB76DB61}"/>
          </ac:spMkLst>
        </pc:spChg>
        <pc:spChg chg="mod">
          <ac:chgData name="BIJOY PANTU" userId="bb1ba97dbf06e64d" providerId="LiveId" clId="{A6C059A4-7AC7-4744-86D7-FCFAC6CA4D4E}" dt="2026-07-20T07:47:11.163" v="761" actId="12788"/>
          <ac:spMkLst>
            <pc:docMk/>
            <pc:sldMk cId="0" sldId="260"/>
            <ac:spMk id="7" creationId="{63133C9C-C844-B820-4B66-01CEFECF7957}"/>
          </ac:spMkLst>
        </pc:spChg>
        <pc:spChg chg="mod">
          <ac:chgData name="BIJOY PANTU" userId="bb1ba97dbf06e64d" providerId="LiveId" clId="{A6C059A4-7AC7-4744-86D7-FCFAC6CA4D4E}" dt="2026-07-20T07:54:17.905" v="815" actId="20577"/>
          <ac:spMkLst>
            <pc:docMk/>
            <pc:sldMk cId="0" sldId="260"/>
            <ac:spMk id="8" creationId="{8B2BB989-08DF-5FFB-FB2A-45F345C31A9A}"/>
          </ac:spMkLst>
        </pc:spChg>
        <pc:spChg chg="mod">
          <ac:chgData name="BIJOY PANTU" userId="bb1ba97dbf06e64d" providerId="LiveId" clId="{A6C059A4-7AC7-4744-86D7-FCFAC6CA4D4E}" dt="2026-07-20T07:47:18.857" v="762" actId="12788"/>
          <ac:spMkLst>
            <pc:docMk/>
            <pc:sldMk cId="0" sldId="260"/>
            <ac:spMk id="9" creationId="{930B8AC7-5678-0BB0-AFFF-B5C02DD55E14}"/>
          </ac:spMkLst>
        </pc:spChg>
        <pc:spChg chg="mod">
          <ac:chgData name="BIJOY PANTU" userId="bb1ba97dbf06e64d" providerId="LiveId" clId="{A6C059A4-7AC7-4744-86D7-FCFAC6CA4D4E}" dt="2026-07-20T07:47:18.857" v="762" actId="12788"/>
          <ac:spMkLst>
            <pc:docMk/>
            <pc:sldMk cId="0" sldId="260"/>
            <ac:spMk id="10" creationId="{6247B032-972E-8C2A-9EB0-194F56A065ED}"/>
          </ac:spMkLst>
        </pc:spChg>
        <pc:spChg chg="mod">
          <ac:chgData name="BIJOY PANTU" userId="bb1ba97dbf06e64d" providerId="LiveId" clId="{A6C059A4-7AC7-4744-86D7-FCFAC6CA4D4E}" dt="2026-07-20T07:47:18.857" v="762" actId="12788"/>
          <ac:spMkLst>
            <pc:docMk/>
            <pc:sldMk cId="0" sldId="260"/>
            <ac:spMk id="15" creationId="{2E49E73C-DEC5-9CCC-0568-3713030EE895}"/>
          </ac:spMkLst>
        </pc:spChg>
      </pc:sldChg>
      <pc:sldChg chg="modSp mod">
        <pc:chgData name="BIJOY PANTU" userId="bb1ba97dbf06e64d" providerId="LiveId" clId="{A6C059A4-7AC7-4744-86D7-FCFAC6CA4D4E}" dt="2026-07-20T07:48:21.291" v="763" actId="404"/>
        <pc:sldMkLst>
          <pc:docMk/>
          <pc:sldMk cId="0" sldId="262"/>
        </pc:sldMkLst>
        <pc:spChg chg="mod">
          <ac:chgData name="BIJOY PANTU" userId="bb1ba97dbf06e64d" providerId="LiveId" clId="{A6C059A4-7AC7-4744-86D7-FCFAC6CA4D4E}" dt="2026-07-20T07:48:21.291" v="763" actId="404"/>
          <ac:spMkLst>
            <pc:docMk/>
            <pc:sldMk cId="0" sldId="262"/>
            <ac:spMk id="6" creationId="{64B0A0B8-06FC-519C-3D5C-1DA8A1F3DBEC}"/>
          </ac:spMkLst>
        </pc:spChg>
      </pc:sldChg>
      <pc:sldChg chg="modSp mod">
        <pc:chgData name="BIJOY PANTU" userId="bb1ba97dbf06e64d" providerId="LiveId" clId="{A6C059A4-7AC7-4744-86D7-FCFAC6CA4D4E}" dt="2026-07-20T07:49:30.552" v="772" actId="404"/>
        <pc:sldMkLst>
          <pc:docMk/>
          <pc:sldMk cId="0" sldId="269"/>
        </pc:sldMkLst>
        <pc:spChg chg="mod">
          <ac:chgData name="BIJOY PANTU" userId="bb1ba97dbf06e64d" providerId="LiveId" clId="{A6C059A4-7AC7-4744-86D7-FCFAC6CA4D4E}" dt="2026-07-20T07:49:30.552" v="772" actId="404"/>
          <ac:spMkLst>
            <pc:docMk/>
            <pc:sldMk cId="0" sldId="269"/>
            <ac:spMk id="2" creationId="{00000000-0000-0000-0000-000000000000}"/>
          </ac:spMkLst>
        </pc:spChg>
      </pc:sldChg>
      <pc:sldChg chg="modSp mod">
        <pc:chgData name="BIJOY PANTU" userId="bb1ba97dbf06e64d" providerId="LiveId" clId="{A6C059A4-7AC7-4744-86D7-FCFAC6CA4D4E}" dt="2026-07-20T07:51:30.371" v="788" actId="114"/>
        <pc:sldMkLst>
          <pc:docMk/>
          <pc:sldMk cId="0" sldId="270"/>
        </pc:sldMkLst>
        <pc:spChg chg="mod">
          <ac:chgData name="BIJOY PANTU" userId="bb1ba97dbf06e64d" providerId="LiveId" clId="{A6C059A4-7AC7-4744-86D7-FCFAC6CA4D4E}" dt="2026-07-20T07:49:35.481" v="773" actId="404"/>
          <ac:spMkLst>
            <pc:docMk/>
            <pc:sldMk cId="0" sldId="270"/>
            <ac:spMk id="2" creationId="{00000000-0000-0000-0000-000000000000}"/>
          </ac:spMkLst>
        </pc:spChg>
        <pc:spChg chg="mod">
          <ac:chgData name="BIJOY PANTU" userId="bb1ba97dbf06e64d" providerId="LiveId" clId="{A6C059A4-7AC7-4744-86D7-FCFAC6CA4D4E}" dt="2026-07-20T07:51:30.371" v="788" actId="114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BIJOY PANTU" userId="bb1ba97dbf06e64d" providerId="LiveId" clId="{A6C059A4-7AC7-4744-86D7-FCFAC6CA4D4E}" dt="2026-07-20T07:48:40.632" v="764" actId="404"/>
        <pc:sldMkLst>
          <pc:docMk/>
          <pc:sldMk cId="3708885481" sldId="287"/>
        </pc:sldMkLst>
        <pc:spChg chg="mod">
          <ac:chgData name="BIJOY PANTU" userId="bb1ba97dbf06e64d" providerId="LiveId" clId="{A6C059A4-7AC7-4744-86D7-FCFAC6CA4D4E}" dt="2026-07-20T07:48:40.632" v="764" actId="404"/>
          <ac:spMkLst>
            <pc:docMk/>
            <pc:sldMk cId="3708885481" sldId="287"/>
            <ac:spMk id="6" creationId="{50D53FC4-B7D3-D158-7697-23173BC7F6B6}"/>
          </ac:spMkLst>
        </pc:spChg>
      </pc:sldChg>
      <pc:sldChg chg="modSp mod">
        <pc:chgData name="BIJOY PANTU" userId="bb1ba97dbf06e64d" providerId="LiveId" clId="{A6C059A4-7AC7-4744-86D7-FCFAC6CA4D4E}" dt="2026-07-20T07:49:04.235" v="768" actId="404"/>
        <pc:sldMkLst>
          <pc:docMk/>
          <pc:sldMk cId="2858600773" sldId="289"/>
        </pc:sldMkLst>
        <pc:spChg chg="mod">
          <ac:chgData name="BIJOY PANTU" userId="bb1ba97dbf06e64d" providerId="LiveId" clId="{A6C059A4-7AC7-4744-86D7-FCFAC6CA4D4E}" dt="2026-07-20T07:49:04.235" v="768" actId="404"/>
          <ac:spMkLst>
            <pc:docMk/>
            <pc:sldMk cId="2858600773" sldId="289"/>
            <ac:spMk id="6" creationId="{DFB16494-DA66-E468-BEC4-2C9937A2C378}"/>
          </ac:spMkLst>
        </pc:spChg>
      </pc:sldChg>
      <pc:sldChg chg="modSp mod">
        <pc:chgData name="BIJOY PANTU" userId="bb1ba97dbf06e64d" providerId="LiveId" clId="{A6C059A4-7AC7-4744-86D7-FCFAC6CA4D4E}" dt="2026-07-20T07:49:10.508" v="769" actId="404"/>
        <pc:sldMkLst>
          <pc:docMk/>
          <pc:sldMk cId="2455392306" sldId="290"/>
        </pc:sldMkLst>
        <pc:spChg chg="mod">
          <ac:chgData name="BIJOY PANTU" userId="bb1ba97dbf06e64d" providerId="LiveId" clId="{A6C059A4-7AC7-4744-86D7-FCFAC6CA4D4E}" dt="2026-07-20T07:49:10.508" v="769" actId="404"/>
          <ac:spMkLst>
            <pc:docMk/>
            <pc:sldMk cId="2455392306" sldId="290"/>
            <ac:spMk id="6" creationId="{F26EB11F-93EA-BF98-8112-0C8947484D63}"/>
          </ac:spMkLst>
        </pc:spChg>
      </pc:sldChg>
      <pc:sldChg chg="modSp mod">
        <pc:chgData name="BIJOY PANTU" userId="bb1ba97dbf06e64d" providerId="LiveId" clId="{A6C059A4-7AC7-4744-86D7-FCFAC6CA4D4E}" dt="2026-07-20T07:49:21.553" v="770" actId="404"/>
        <pc:sldMkLst>
          <pc:docMk/>
          <pc:sldMk cId="1340437098" sldId="291"/>
        </pc:sldMkLst>
        <pc:spChg chg="mod">
          <ac:chgData name="BIJOY PANTU" userId="bb1ba97dbf06e64d" providerId="LiveId" clId="{A6C059A4-7AC7-4744-86D7-FCFAC6CA4D4E}" dt="2026-07-20T07:49:21.553" v="770" actId="404"/>
          <ac:spMkLst>
            <pc:docMk/>
            <pc:sldMk cId="1340437098" sldId="291"/>
            <ac:spMk id="6" creationId="{8679A7AB-718C-3819-D9A8-5FF657F16A68}"/>
          </ac:spMkLst>
        </pc:spChg>
      </pc:sldChg>
      <pc:sldChg chg="modSp mod">
        <pc:chgData name="BIJOY PANTU" userId="bb1ba97dbf06e64d" providerId="LiveId" clId="{A6C059A4-7AC7-4744-86D7-FCFAC6CA4D4E}" dt="2026-07-20T07:49:25.885" v="771" actId="404"/>
        <pc:sldMkLst>
          <pc:docMk/>
          <pc:sldMk cId="1253556063" sldId="292"/>
        </pc:sldMkLst>
        <pc:spChg chg="mod">
          <ac:chgData name="BIJOY PANTU" userId="bb1ba97dbf06e64d" providerId="LiveId" clId="{A6C059A4-7AC7-4744-86D7-FCFAC6CA4D4E}" dt="2026-07-20T07:49:25.885" v="771" actId="404"/>
          <ac:spMkLst>
            <pc:docMk/>
            <pc:sldMk cId="1253556063" sldId="292"/>
            <ac:spMk id="6" creationId="{1944CE80-270A-B100-52BD-C242288ED6E2}"/>
          </ac:spMkLst>
        </pc:spChg>
      </pc:sldChg>
      <pc:sldChg chg="modSp mod">
        <pc:chgData name="BIJOY PANTU" userId="bb1ba97dbf06e64d" providerId="LiveId" clId="{A6C059A4-7AC7-4744-86D7-FCFAC6CA4D4E}" dt="2026-07-20T07:48:54.463" v="766" actId="404"/>
        <pc:sldMkLst>
          <pc:docMk/>
          <pc:sldMk cId="2421299115" sldId="293"/>
        </pc:sldMkLst>
        <pc:spChg chg="mod">
          <ac:chgData name="BIJOY PANTU" userId="bb1ba97dbf06e64d" providerId="LiveId" clId="{A6C059A4-7AC7-4744-86D7-FCFAC6CA4D4E}" dt="2026-07-20T07:48:54.463" v="766" actId="404"/>
          <ac:spMkLst>
            <pc:docMk/>
            <pc:sldMk cId="2421299115" sldId="293"/>
            <ac:spMk id="6" creationId="{CFE1BCBC-3E85-8172-41FC-3FA31102CCC4}"/>
          </ac:spMkLst>
        </pc:spChg>
      </pc:sldChg>
      <pc:sldChg chg="modSp mod">
        <pc:chgData name="BIJOY PANTU" userId="bb1ba97dbf06e64d" providerId="LiveId" clId="{A6C059A4-7AC7-4744-86D7-FCFAC6CA4D4E}" dt="2026-07-20T07:48:48.329" v="765" actId="404"/>
        <pc:sldMkLst>
          <pc:docMk/>
          <pc:sldMk cId="2799447738" sldId="295"/>
        </pc:sldMkLst>
        <pc:spChg chg="mod">
          <ac:chgData name="BIJOY PANTU" userId="bb1ba97dbf06e64d" providerId="LiveId" clId="{A6C059A4-7AC7-4744-86D7-FCFAC6CA4D4E}" dt="2026-07-20T07:48:48.329" v="765" actId="404"/>
          <ac:spMkLst>
            <pc:docMk/>
            <pc:sldMk cId="2799447738" sldId="295"/>
            <ac:spMk id="6" creationId="{BB61A3F7-AE35-7872-FFA0-242C21734F35}"/>
          </ac:spMkLst>
        </pc:spChg>
      </pc:sldChg>
      <pc:sldChg chg="modSp mod">
        <pc:chgData name="BIJOY PANTU" userId="bb1ba97dbf06e64d" providerId="LiveId" clId="{A6C059A4-7AC7-4744-86D7-FCFAC6CA4D4E}" dt="2026-07-20T07:48:59.270" v="767" actId="404"/>
        <pc:sldMkLst>
          <pc:docMk/>
          <pc:sldMk cId="3916668631" sldId="296"/>
        </pc:sldMkLst>
        <pc:spChg chg="mod">
          <ac:chgData name="BIJOY PANTU" userId="bb1ba97dbf06e64d" providerId="LiveId" clId="{A6C059A4-7AC7-4744-86D7-FCFAC6CA4D4E}" dt="2026-07-20T07:48:59.270" v="767" actId="404"/>
          <ac:spMkLst>
            <pc:docMk/>
            <pc:sldMk cId="3916668631" sldId="296"/>
            <ac:spMk id="6" creationId="{7E10E13B-917E-4379-640E-246E2C7B92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9969B-286A-4708-919A-09A8C670FF4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5C354-B8A6-474A-B1F5-32203F3A14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3D9-74D6-4387-8991-F84E020E962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B028-5101-4B4A-AA31-552C68D4199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9C91-CF8C-4718-ADB2-3F7AA4DBA71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03E7-6F3D-45D6-A87B-207602BE3F63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E7E2-72D8-4EBB-8109-107A493228BD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7148-1696-47C8-8CF5-1F03FA6EBE67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D589C-9AA6-40FD-B430-D4F606AADC5B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3B1F4-307E-491A-9DF9-FABB596B52E5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A8B76-4331-40B1-933D-5AF1352562F9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9035-F287-4BEC-A27F-9585E30A4D63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4CB1-354E-43A7-AFB7-77387C00C868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A08C-409F-4B5F-AB6A-740909593B8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90DB-0E12-4473-8C90-EF58CE838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3174" y="214290"/>
            <a:ext cx="385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Major Project Presentation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7619" y="1071546"/>
            <a:ext cx="638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TOPIC 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Design and Develop a Centralized Freelancing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93273" y="171448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Presented By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6017" y="2285992"/>
            <a:ext cx="4071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Bijoy Pantu – 27600122048</a:t>
            </a:r>
          </a:p>
          <a:p>
            <a:pPr algn="ctr"/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Sharad Kumar -- 27600122221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Rishika Kumari – 27600122190</a:t>
            </a:r>
          </a:p>
          <a:p>
            <a:pPr algn="ctr"/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Koustav Mondal – 27600122051</a:t>
            </a:r>
          </a:p>
          <a:p>
            <a:pPr algn="ctr"/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Muntazir Alam – 27600122155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4546" y="3929066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Supervisor : Mrs. Atreyee Datta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71670" y="4500570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Department Of Computer Science &amp; Engineering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8" descr="bb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356" y="4929198"/>
            <a:ext cx="1157288" cy="9858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0133" y="6000768"/>
            <a:ext cx="6643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Budge Budge Institute Of Technology</a:t>
            </a:r>
          </a:p>
          <a:p>
            <a:pPr algn="ctr"/>
            <a:r>
              <a:rPr lang="en-GB" b="1">
                <a:solidFill>
                  <a:schemeClr val="accent1">
                    <a:lumMod val="50000"/>
                  </a:schemeClr>
                </a:solidFill>
              </a:rPr>
              <a:t>July 20, 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2026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21BD6-F4FF-07D2-FC7D-BD24D29E5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3867" y="210901"/>
            <a:ext cx="1018456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642918"/>
            <a:ext cx="364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1982450"/>
            <a:ext cx="75009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Connect</a:t>
            </a:r>
            <a:r>
              <a:rPr lang="en-IN" sz="2000" dirty="0"/>
              <a:t> freelancers and employers through a single centralized platform 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Showcase</a:t>
            </a:r>
            <a:r>
              <a:rPr lang="en-IN" sz="2000" dirty="0"/>
              <a:t> skills, experience, and portfolios in a professional format </a:t>
            </a:r>
          </a:p>
          <a:p>
            <a:pPr algn="just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Enable</a:t>
            </a:r>
            <a:r>
              <a:rPr lang="en-IN" sz="2000" dirty="0"/>
              <a:t> efficient job posting with smart search and filtering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Implement</a:t>
            </a:r>
            <a:r>
              <a:rPr lang="en-IN" sz="2000" dirty="0"/>
              <a:t> secure, escrow-based payments for trust and transparency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b="1" dirty="0"/>
              <a:t>Boost</a:t>
            </a:r>
            <a:r>
              <a:rPr lang="en-IN" sz="2000" dirty="0"/>
              <a:t> job accessibility and income opportunities in India's gig economy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/>
          </a:p>
        </p:txBody>
      </p:sp>
      <p:pic>
        <p:nvPicPr>
          <p:cNvPr id="5" name="Picture 4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73E35BC2-4203-642D-1613-DF673B3D9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AFA2F00-E7CC-B905-EAE2-2856FD9B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3867" y="210901"/>
            <a:ext cx="1018456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2910" y="714356"/>
            <a:ext cx="371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DD6E305D-F78C-910F-6397-8EC564C2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A174FB7-C2E1-3B97-D29A-B0E2DBB20C29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9C06211-605B-0F6F-4C55-AC173409DFB3}"/>
              </a:ext>
            </a:extLst>
          </p:cNvPr>
          <p:cNvGrpSpPr/>
          <p:nvPr/>
        </p:nvGrpSpPr>
        <p:grpSpPr>
          <a:xfrm>
            <a:off x="323808" y="1916832"/>
            <a:ext cx="3168072" cy="4104456"/>
            <a:chOff x="359792" y="1916832"/>
            <a:chExt cx="2520000" cy="37444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C520BEC-EEDA-6A03-F941-C4CC12F6B114}"/>
                </a:ext>
              </a:extLst>
            </p:cNvPr>
            <p:cNvSpPr/>
            <p:nvPr/>
          </p:nvSpPr>
          <p:spPr>
            <a:xfrm>
              <a:off x="359792" y="1916832"/>
              <a:ext cx="2520000" cy="5760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28090"/>
                  </a:solidFill>
                </a:rPr>
                <a:t>The Challenge</a:t>
              </a:r>
              <a:endParaRPr lang="en-US" sz="2000" dirty="0">
                <a:solidFill>
                  <a:srgbClr val="028090"/>
                </a:solidFill>
              </a:endParaRPr>
            </a:p>
          </p:txBody>
        </p:sp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CD5D1EB5-999F-07A6-6D4A-20CF175B75EF}"/>
                </a:ext>
              </a:extLst>
            </p:cNvPr>
            <p:cNvSpPr/>
            <p:nvPr/>
          </p:nvSpPr>
          <p:spPr>
            <a:xfrm>
              <a:off x="359792" y="2582506"/>
              <a:ext cx="2520000" cy="307874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just"/>
              <a:endParaRPr lang="en-IN" sz="1600" dirty="0"/>
            </a:p>
            <a:p>
              <a:pPr algn="just"/>
              <a:r>
                <a:rPr lang="en-IN" sz="1600" dirty="0"/>
                <a:t>India's gig economy is expanding rapidly, driven by urbanization, growing internet penetration, and rising demand for remote work. Yet global platforms like Upwork and Fiverr fall short here - high fees, no India-specific payment support, and job postings that are often vague or poorly structured, leaving small Indian businesses and freelancers without a platform built for their needs.</a:t>
              </a:r>
              <a:endParaRPr lang="en-US" sz="1600" dirty="0">
                <a:solidFill>
                  <a:srgbClr val="2C3E5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B5E2816-9EEA-67F2-1CD9-D9AFBAA25A06}"/>
              </a:ext>
            </a:extLst>
          </p:cNvPr>
          <p:cNvGrpSpPr/>
          <p:nvPr/>
        </p:nvGrpSpPr>
        <p:grpSpPr>
          <a:xfrm>
            <a:off x="3635896" y="1916832"/>
            <a:ext cx="5184576" cy="4104456"/>
            <a:chOff x="3402000" y="1916832"/>
            <a:chExt cx="2520000" cy="355193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8E22D08-55B5-5E95-8A62-A7AAF3ACBB54}"/>
                </a:ext>
              </a:extLst>
            </p:cNvPr>
            <p:cNvSpPr/>
            <p:nvPr/>
          </p:nvSpPr>
          <p:spPr>
            <a:xfrm>
              <a:off x="3402000" y="1916832"/>
              <a:ext cx="2520000" cy="504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28090"/>
                  </a:solidFill>
                </a:rPr>
                <a:t>Our Solution</a:t>
              </a:r>
              <a:endParaRPr lang="en-US" sz="2000" dirty="0">
                <a:solidFill>
                  <a:srgbClr val="028090"/>
                </a:solidFill>
              </a:endParaRPr>
            </a:p>
          </p:txBody>
        </p:sp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17F1F044-D0BE-C8DA-A98B-206231927279}"/>
                </a:ext>
              </a:extLst>
            </p:cNvPr>
            <p:cNvSpPr/>
            <p:nvPr/>
          </p:nvSpPr>
          <p:spPr>
            <a:xfrm>
              <a:off x="3402000" y="2492896"/>
              <a:ext cx="2520000" cy="2975869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r>
                <a:rPr lang="en-IN" sz="1600" b="1" dirty="0"/>
                <a:t>A centralized platform purpose-built for the Indian market:</a:t>
              </a:r>
            </a:p>
            <a:p>
              <a:endParaRPr lang="en-IN" sz="1600" b="1" dirty="0"/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Targeted specifically at small Indian businesses and local employers</a:t>
              </a:r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Structured job posting for clearer, more detailed project descriptions</a:t>
              </a:r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Smart search and filtering to match freelancers with the right work</a:t>
              </a:r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UPI-integrated, escrow-based secure payments</a:t>
              </a:r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Milestone tracking for project accountability</a:t>
              </a:r>
            </a:p>
            <a:p>
              <a:pPr marL="285750" indent="-285750">
                <a:lnSpc>
                  <a:spcPts val="2300"/>
                </a:lnSpc>
                <a:buFont typeface="Arial" panose="020B0604020202020204" pitchFamily="34" charset="0"/>
                <a:buChar char="•"/>
              </a:pPr>
              <a:r>
                <a:rPr lang="en-IN" sz="1600" dirty="0"/>
                <a:t>Real-time chat between freelancers and employers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642918"/>
            <a:ext cx="7072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15220F89-3E61-9E65-A232-E4887F93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A4C8BA1-580A-5D62-9BF8-2C85EDE7BAF2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81C181A-91C9-9882-4CB5-B72ABB76DB61}"/>
              </a:ext>
            </a:extLst>
          </p:cNvPr>
          <p:cNvSpPr/>
          <p:nvPr/>
        </p:nvSpPr>
        <p:spPr>
          <a:xfrm>
            <a:off x="323528" y="1628800"/>
            <a:ext cx="4023360" cy="432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3133C9C-C844-B820-4B66-01CEFECF7957}"/>
              </a:ext>
            </a:extLst>
          </p:cNvPr>
          <p:cNvSpPr/>
          <p:nvPr/>
        </p:nvSpPr>
        <p:spPr>
          <a:xfrm>
            <a:off x="506408" y="1835592"/>
            <a:ext cx="3657600" cy="41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solidFill>
                  <a:srgbClr val="028090"/>
                </a:solidFill>
              </a:rPr>
              <a:t>Global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rgbClr val="028090"/>
                </a:solidFill>
              </a:rPr>
              <a:t>Platforms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rgbClr val="028090"/>
                </a:solidFill>
              </a:rPr>
              <a:t>Studied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B2BB989-08DF-5FFB-FB2A-45F345C31A9A}"/>
              </a:ext>
            </a:extLst>
          </p:cNvPr>
          <p:cNvSpPr/>
          <p:nvPr/>
        </p:nvSpPr>
        <p:spPr>
          <a:xfrm>
            <a:off x="506408" y="2352573"/>
            <a:ext cx="3657600" cy="3256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ts val="2200"/>
              </a:lnSpc>
            </a:pPr>
            <a:r>
              <a:rPr lang="en-IN" sz="1600" b="1" dirty="0"/>
              <a:t>Upwork</a:t>
            </a:r>
            <a:r>
              <a:rPr lang="en-IN" sz="1600" dirty="0"/>
              <a:t> - Bidding-based marketplace with hourly/fixed-price contracts and built-in time tracking</a:t>
            </a:r>
          </a:p>
          <a:p>
            <a:pPr algn="just">
              <a:lnSpc>
                <a:spcPts val="2200"/>
              </a:lnSpc>
            </a:pPr>
            <a:r>
              <a:rPr lang="en-IN" sz="1600" b="1" dirty="0"/>
              <a:t>Fiverr</a:t>
            </a:r>
            <a:r>
              <a:rPr lang="en-IN" sz="1600" dirty="0"/>
              <a:t> - Fixed-price "gig" catalogue model, popular for smaller, well-defined tasks</a:t>
            </a:r>
          </a:p>
          <a:p>
            <a:pPr algn="just">
              <a:lnSpc>
                <a:spcPts val="2200"/>
              </a:lnSpc>
            </a:pPr>
            <a:r>
              <a:rPr lang="en-IN" sz="1600" b="1" dirty="0"/>
              <a:t>Freelancer.com</a:t>
            </a:r>
            <a:r>
              <a:rPr lang="en-IN" sz="1600" dirty="0"/>
              <a:t> - Combines competitive bidding with skill-based contests</a:t>
            </a:r>
          </a:p>
          <a:p>
            <a:pPr algn="just">
              <a:lnSpc>
                <a:spcPts val="2200"/>
              </a:lnSpc>
            </a:pPr>
            <a:r>
              <a:rPr lang="en-IN" sz="1600" b="1"/>
              <a:t>Toptal</a:t>
            </a:r>
            <a:r>
              <a:rPr lang="en-IN" sz="1600"/>
              <a:t> </a:t>
            </a:r>
            <a:r>
              <a:rPr lang="en-IN" sz="1600" dirty="0"/>
              <a:t>-</a:t>
            </a:r>
            <a:r>
              <a:rPr lang="en-IN" sz="1600"/>
              <a:t> </a:t>
            </a:r>
            <a:r>
              <a:rPr lang="en-IN" sz="1600" dirty="0"/>
              <a:t>Exclusive, invite-only platform screening for top-tier, enterprise-grade talent</a:t>
            </a:r>
            <a:endParaRPr lang="en-US" sz="14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30B8AC7-5678-0BB0-AFFF-B5C02DD55E14}"/>
              </a:ext>
            </a:extLst>
          </p:cNvPr>
          <p:cNvSpPr/>
          <p:nvPr/>
        </p:nvSpPr>
        <p:spPr>
          <a:xfrm>
            <a:off x="4663440" y="1628800"/>
            <a:ext cx="4023360" cy="432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247B032-972E-8C2A-9EB0-194F56A065ED}"/>
              </a:ext>
            </a:extLst>
          </p:cNvPr>
          <p:cNvSpPr/>
          <p:nvPr/>
        </p:nvSpPr>
        <p:spPr>
          <a:xfrm>
            <a:off x="4796056" y="1835592"/>
            <a:ext cx="3758128" cy="41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</a:rPr>
              <a:t>Key Limitations for Indian Users</a:t>
            </a: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2E49E73C-DEC5-9CCC-0568-3713030EE895}"/>
              </a:ext>
            </a:extLst>
          </p:cNvPr>
          <p:cNvSpPr/>
          <p:nvPr/>
        </p:nvSpPr>
        <p:spPr>
          <a:xfrm>
            <a:off x="4846320" y="2409999"/>
            <a:ext cx="3657600" cy="3256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High service fees, ranging from 10–20% of freelancer earnings</a:t>
            </a:r>
          </a:p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Payment delays from cross-border banking and currency conversion</a:t>
            </a:r>
          </a:p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No India-specific payment gateways or localized job categories</a:t>
            </a:r>
          </a:p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Intense global competition makes it hard for new freelancers to land their first project</a:t>
            </a:r>
          </a:p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Weak dispute resolution and support for region-specific concerns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E71C9-333A-A21E-082C-47BDE6987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C334B3-01DB-FA5A-94E1-E2D468FDF7DB}"/>
              </a:ext>
            </a:extLst>
          </p:cNvPr>
          <p:cNvSpPr txBox="1"/>
          <p:nvPr/>
        </p:nvSpPr>
        <p:spPr>
          <a:xfrm>
            <a:off x="642910" y="714356"/>
            <a:ext cx="5441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pic>
        <p:nvPicPr>
          <p:cNvPr id="5" name="Picture 4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0B9D5B1D-2DE4-649E-4677-59FE8561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5711015-2BE2-8592-704E-4989969EE8CC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607DB3-9921-0522-39BD-15941E7EE239}"/>
              </a:ext>
            </a:extLst>
          </p:cNvPr>
          <p:cNvGrpSpPr/>
          <p:nvPr/>
        </p:nvGrpSpPr>
        <p:grpSpPr>
          <a:xfrm>
            <a:off x="3312000" y="1916832"/>
            <a:ext cx="2520000" cy="3240360"/>
            <a:chOff x="3402000" y="1916832"/>
            <a:chExt cx="2520000" cy="324036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A3C42FE-B622-6B25-6D9F-AE9D53ACF66C}"/>
                </a:ext>
              </a:extLst>
            </p:cNvPr>
            <p:cNvSpPr/>
            <p:nvPr/>
          </p:nvSpPr>
          <p:spPr>
            <a:xfrm>
              <a:off x="3402000" y="1916832"/>
              <a:ext cx="2520000" cy="504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28090"/>
                  </a:solidFill>
                </a:rPr>
                <a:t>Backend</a:t>
              </a:r>
              <a:endParaRPr lang="en-US" sz="2000" dirty="0">
                <a:solidFill>
                  <a:srgbClr val="028090"/>
                </a:solidFill>
              </a:endParaRPr>
            </a:p>
          </p:txBody>
        </p:sp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7BAFCA61-EE2D-D993-BBE8-BBA2D392DF95}"/>
                </a:ext>
              </a:extLst>
            </p:cNvPr>
            <p:cNvSpPr/>
            <p:nvPr/>
          </p:nvSpPr>
          <p:spPr>
            <a:xfrm>
              <a:off x="3402000" y="2492896"/>
              <a:ext cx="2520000" cy="2664296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2C3E50"/>
                  </a:solidFill>
                </a:rPr>
                <a:t>Node.js + Express</a:t>
              </a:r>
            </a:p>
            <a:p>
              <a:endParaRPr lang="en-US" sz="1600" dirty="0">
                <a:solidFill>
                  <a:srgbClr val="2C3E50"/>
                </a:solidFill>
              </a:endParaRPr>
            </a:p>
            <a:p>
              <a:endParaRPr lang="en-US" sz="1600" dirty="0">
                <a:solidFill>
                  <a:srgbClr val="2C3E50"/>
                </a:solidFill>
              </a:endParaRPr>
            </a:p>
            <a:p>
              <a:pPr algn="ctr"/>
              <a:r>
                <a:rPr lang="en-US" sz="1600" dirty="0">
                  <a:solidFill>
                    <a:srgbClr val="2C3E50"/>
                  </a:solidFill>
                </a:rPr>
                <a:t>Scalable server</a:t>
              </a:r>
            </a:p>
            <a:p>
              <a:pPr algn="ctr"/>
              <a:r>
                <a:rPr lang="en-US" sz="1600" dirty="0">
                  <a:solidFill>
                    <a:srgbClr val="2C3E50"/>
                  </a:solidFill>
                </a:rPr>
                <a:t>architecture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26822EB-BE43-632B-70DD-18063F1B1105}"/>
              </a:ext>
            </a:extLst>
          </p:cNvPr>
          <p:cNvGrpSpPr/>
          <p:nvPr/>
        </p:nvGrpSpPr>
        <p:grpSpPr>
          <a:xfrm>
            <a:off x="6300192" y="1916832"/>
            <a:ext cx="2520000" cy="3240360"/>
            <a:chOff x="6444208" y="1916832"/>
            <a:chExt cx="2520000" cy="32403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F1B29A6-99F0-7E6D-1E0B-B0327F73845A}"/>
                </a:ext>
              </a:extLst>
            </p:cNvPr>
            <p:cNvSpPr/>
            <p:nvPr/>
          </p:nvSpPr>
          <p:spPr>
            <a:xfrm>
              <a:off x="6444208" y="1916832"/>
              <a:ext cx="2520000" cy="504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28090"/>
                  </a:solidFill>
                </a:rPr>
                <a:t>Database</a:t>
              </a:r>
              <a:endParaRPr lang="en-IN" dirty="0">
                <a:solidFill>
                  <a:srgbClr val="028090"/>
                </a:solidFill>
              </a:endParaRPr>
            </a:p>
          </p:txBody>
        </p:sp>
        <p:sp>
          <p:nvSpPr>
            <p:cNvPr id="12" name="Shape 1">
              <a:extLst>
                <a:ext uri="{FF2B5EF4-FFF2-40B4-BE49-F238E27FC236}">
                  <a16:creationId xmlns:a16="http://schemas.microsoft.com/office/drawing/2014/main" id="{CA4777ED-114C-9B9D-2E73-0CF475994918}"/>
                </a:ext>
              </a:extLst>
            </p:cNvPr>
            <p:cNvSpPr/>
            <p:nvPr/>
          </p:nvSpPr>
          <p:spPr>
            <a:xfrm>
              <a:off x="6444208" y="2492896"/>
              <a:ext cx="2520000" cy="2664296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sz="1600" dirty="0">
                <a:solidFill>
                  <a:srgbClr val="2C3E50"/>
                </a:solidFill>
              </a:endParaRPr>
            </a:p>
            <a:p>
              <a:pPr algn="ctr"/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2C3E50"/>
                  </a:solidFill>
                </a:rPr>
                <a:t>MongoDB</a:t>
              </a:r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endParaRPr lang="en-US" sz="1600" dirty="0">
                <a:solidFill>
                  <a:srgbClr val="2C3E50"/>
                </a:solidFill>
              </a:endParaRPr>
            </a:p>
            <a:p>
              <a:pPr algn="ctr"/>
              <a:endParaRPr lang="en-US" sz="1600" dirty="0">
                <a:solidFill>
                  <a:srgbClr val="2C3E50"/>
                </a:solidFill>
              </a:endParaRPr>
            </a:p>
            <a:p>
              <a:pPr algn="ctr"/>
              <a:r>
                <a:rPr lang="en-US" sz="1600" dirty="0">
                  <a:solidFill>
                    <a:srgbClr val="2C3E50"/>
                  </a:solidFill>
                </a:rPr>
                <a:t>Flexible document</a:t>
              </a:r>
            </a:p>
            <a:p>
              <a:pPr algn="ctr"/>
              <a:r>
                <a:rPr lang="en-US" sz="1600" dirty="0">
                  <a:solidFill>
                    <a:srgbClr val="2C3E50"/>
                  </a:solidFill>
                </a:rPr>
                <a:t>storage</a:t>
              </a:r>
              <a:endParaRPr lang="en-US" sz="16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7C2577-82D4-B3ED-3A64-659A709A5B82}"/>
              </a:ext>
            </a:extLst>
          </p:cNvPr>
          <p:cNvGrpSpPr/>
          <p:nvPr/>
        </p:nvGrpSpPr>
        <p:grpSpPr>
          <a:xfrm>
            <a:off x="323808" y="1916832"/>
            <a:ext cx="2520000" cy="3240360"/>
            <a:chOff x="323808" y="1916832"/>
            <a:chExt cx="2520000" cy="324036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925A8F2-EE79-4668-491B-67891655510F}"/>
                </a:ext>
              </a:extLst>
            </p:cNvPr>
            <p:cNvSpPr/>
            <p:nvPr/>
          </p:nvSpPr>
          <p:spPr>
            <a:xfrm>
              <a:off x="323808" y="1916832"/>
              <a:ext cx="2520000" cy="504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028090"/>
                  </a:solidFill>
                </a:rPr>
                <a:t>Frontend</a:t>
              </a:r>
              <a:endParaRPr lang="en-US" sz="2000" dirty="0">
                <a:solidFill>
                  <a:srgbClr val="028090"/>
                </a:solidFill>
              </a:endParaRPr>
            </a:p>
          </p:txBody>
        </p:sp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55F1684C-522A-A815-5A3B-9EA271E52EC9}"/>
                </a:ext>
              </a:extLst>
            </p:cNvPr>
            <p:cNvSpPr/>
            <p:nvPr/>
          </p:nvSpPr>
          <p:spPr>
            <a:xfrm>
              <a:off x="323808" y="2492896"/>
              <a:ext cx="2520000" cy="2664296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pPr algn="ctr"/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endParaRPr lang="en-US" sz="1600" b="1" dirty="0">
                <a:solidFill>
                  <a:srgbClr val="2C3E50"/>
                </a:solidFill>
              </a:endParaRPr>
            </a:p>
            <a:p>
              <a:pPr algn="ctr"/>
              <a:r>
                <a:rPr lang="en-US" sz="2000" b="1" dirty="0">
                  <a:solidFill>
                    <a:srgbClr val="2C3E50"/>
                  </a:solidFill>
                </a:rPr>
                <a:t>React.js + Tailwind CSS</a:t>
              </a:r>
              <a:endParaRPr lang="en-US" sz="1600" dirty="0">
                <a:solidFill>
                  <a:srgbClr val="2C3E50"/>
                </a:solidFill>
              </a:endParaRPr>
            </a:p>
            <a:p>
              <a:endParaRPr lang="en-US" sz="1600" dirty="0">
                <a:solidFill>
                  <a:srgbClr val="2C3E50"/>
                </a:solidFill>
              </a:endParaRPr>
            </a:p>
            <a:p>
              <a:pPr algn="ctr"/>
              <a:r>
                <a:rPr lang="en-US" sz="1600" dirty="0">
                  <a:solidFill>
                    <a:srgbClr val="2C3E50"/>
                  </a:solidFill>
                </a:rPr>
                <a:t>Modern, responsive 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87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95AE5-9BC6-2D65-216E-95E1C2FB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9F01D-DEA0-D236-C5A2-3F955D2AE2BE}"/>
              </a:ext>
            </a:extLst>
          </p:cNvPr>
          <p:cNvSpPr txBox="1"/>
          <p:nvPr/>
        </p:nvSpPr>
        <p:spPr>
          <a:xfrm>
            <a:off x="642910" y="714356"/>
            <a:ext cx="5441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Core Platform Features</a:t>
            </a:r>
          </a:p>
        </p:txBody>
      </p:sp>
      <p:pic>
        <p:nvPicPr>
          <p:cNvPr id="5" name="Picture 4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D0017A7C-2EE7-4501-C026-26A82B86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5D15F1C-23DB-52E1-02AC-1FB0450FFBF6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6C23D9-D73B-C39C-3D35-7385B0336877}"/>
              </a:ext>
            </a:extLst>
          </p:cNvPr>
          <p:cNvGrpSpPr/>
          <p:nvPr/>
        </p:nvGrpSpPr>
        <p:grpSpPr>
          <a:xfrm>
            <a:off x="384432" y="1700808"/>
            <a:ext cx="3971544" cy="4248472"/>
            <a:chOff x="312424" y="1700808"/>
            <a:chExt cx="3971544" cy="4248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C744D1C9-4B1B-8A8C-345E-09915C9CEB7F}"/>
                </a:ext>
              </a:extLst>
            </p:cNvPr>
            <p:cNvSpPr/>
            <p:nvPr/>
          </p:nvSpPr>
          <p:spPr>
            <a:xfrm>
              <a:off x="323808" y="1700808"/>
              <a:ext cx="3960160" cy="42484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900" b="1" dirty="0">
                <a:solidFill>
                  <a:srgbClr val="028090"/>
                </a:solidFill>
              </a:endParaRPr>
            </a:p>
            <a:p>
              <a:r>
                <a:rPr lang="en-US" sz="2400" b="1" dirty="0">
                  <a:solidFill>
                    <a:srgbClr val="028090"/>
                  </a:solidFill>
                </a:rPr>
                <a:t>For Freelancers</a:t>
              </a:r>
              <a:endParaRPr lang="en-US" sz="2400" dirty="0"/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FD4AAFED-68B0-5039-C670-DECDB0A0BCDD}"/>
                </a:ext>
              </a:extLst>
            </p:cNvPr>
            <p:cNvSpPr/>
            <p:nvPr/>
          </p:nvSpPr>
          <p:spPr>
            <a:xfrm>
              <a:off x="323808" y="2639276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C3E50"/>
                  </a:solidFill>
                </a:rPr>
                <a:t>Comprehensive Profiles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2C3E50"/>
                  </a:solidFill>
                </a:rPr>
                <a:t>Skills, portfolio, experience, and certifications</a:t>
              </a:r>
              <a:endParaRPr lang="en-US" sz="16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942C8064-0EDC-1957-72B0-1938D3B13ED4}"/>
                </a:ext>
              </a:extLst>
            </p:cNvPr>
            <p:cNvSpPr/>
            <p:nvPr/>
          </p:nvSpPr>
          <p:spPr>
            <a:xfrm>
              <a:off x="312424" y="3356992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600" b="1" dirty="0">
                  <a:solidFill>
                    <a:srgbClr val="2C3E50"/>
                  </a:solidFill>
                </a:rPr>
                <a:t>Job Search &amp; Filtering</a:t>
              </a:r>
            </a:p>
            <a:p>
              <a:r>
                <a:rPr lang="en-US" sz="1400" dirty="0">
                  <a:solidFill>
                    <a:srgbClr val="2C3E50"/>
                  </a:solidFill>
                </a:rPr>
                <a:t>Browse and filter projects by skill, budget, and category</a:t>
              </a:r>
              <a:endParaRPr lang="en-US" sz="1400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496E1BB8-F2CF-A8C1-2DAD-58C47BE9F295}"/>
                </a:ext>
              </a:extLst>
            </p:cNvPr>
            <p:cNvSpPr/>
            <p:nvPr/>
          </p:nvSpPr>
          <p:spPr>
            <a:xfrm>
              <a:off x="312424" y="4295414"/>
              <a:ext cx="3971544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600" b="1" dirty="0">
                  <a:solidFill>
                    <a:srgbClr val="2C3E50"/>
                  </a:solidFill>
                </a:rPr>
                <a:t>Portfolio Showcase</a:t>
              </a:r>
            </a:p>
            <a:p>
              <a:r>
                <a:rPr lang="en-US" sz="1400" dirty="0">
                  <a:solidFill>
                    <a:srgbClr val="2C3E50"/>
                  </a:solidFill>
                </a:rPr>
                <a:t>Visual work samples and detailed case studies</a:t>
              </a:r>
              <a:endParaRPr lang="en-US" sz="1400" dirty="0"/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92B8EEEF-51E9-E195-3153-F1463EA75E4E}"/>
                </a:ext>
              </a:extLst>
            </p:cNvPr>
            <p:cNvSpPr/>
            <p:nvPr/>
          </p:nvSpPr>
          <p:spPr>
            <a:xfrm>
              <a:off x="323808" y="5085184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C3E50"/>
                  </a:solidFill>
                </a:rPr>
                <a:t>Secure Escrow Payments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2C3E50"/>
                  </a:solidFill>
                </a:rPr>
                <a:t>Milestone-based earnings released safely via Razorpay</a:t>
              </a:r>
              <a:endParaRPr lang="en-US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40D401B-F60F-A7F9-54F7-B67E24EFBC2C}"/>
              </a:ext>
            </a:extLst>
          </p:cNvPr>
          <p:cNvGrpSpPr/>
          <p:nvPr/>
        </p:nvGrpSpPr>
        <p:grpSpPr>
          <a:xfrm>
            <a:off x="4644008" y="1700808"/>
            <a:ext cx="3971544" cy="4248472"/>
            <a:chOff x="312424" y="1700808"/>
            <a:chExt cx="3971544" cy="4248472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83E66445-88C0-8BD1-8DF2-61FD905FE87F}"/>
                </a:ext>
              </a:extLst>
            </p:cNvPr>
            <p:cNvSpPr/>
            <p:nvPr/>
          </p:nvSpPr>
          <p:spPr>
            <a:xfrm>
              <a:off x="323808" y="1700808"/>
              <a:ext cx="3960160" cy="42484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900" b="1" dirty="0">
                <a:solidFill>
                  <a:srgbClr val="028090"/>
                </a:solidFill>
              </a:endParaRPr>
            </a:p>
            <a:p>
              <a:r>
                <a:rPr lang="en-US" sz="2400" b="1" dirty="0">
                  <a:solidFill>
                    <a:srgbClr val="028090"/>
                  </a:solidFill>
                </a:rPr>
                <a:t>For Employers</a:t>
              </a:r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22B5B5EA-4DA3-4656-5DC4-B536455D37E8}"/>
                </a:ext>
              </a:extLst>
            </p:cNvPr>
            <p:cNvSpPr/>
            <p:nvPr/>
          </p:nvSpPr>
          <p:spPr>
            <a:xfrm>
              <a:off x="323808" y="2639276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C3E50"/>
                  </a:solidFill>
                </a:rPr>
                <a:t>Project Posting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2C3E50"/>
                  </a:solidFill>
                </a:rPr>
                <a:t>Define requirements, budget, and timeline easily</a:t>
              </a:r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DEB663F8-1505-7AAE-0710-90313401B725}"/>
                </a:ext>
              </a:extLst>
            </p:cNvPr>
            <p:cNvSpPr/>
            <p:nvPr/>
          </p:nvSpPr>
          <p:spPr>
            <a:xfrm>
              <a:off x="312424" y="3433636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600" b="1" dirty="0">
                  <a:solidFill>
                    <a:srgbClr val="2C3E50"/>
                  </a:solidFill>
                </a:rPr>
                <a:t>Advanced Search</a:t>
              </a:r>
            </a:p>
            <a:p>
              <a:r>
                <a:rPr lang="en-US" sz="1400" dirty="0">
                  <a:solidFill>
                    <a:srgbClr val="2C3E50"/>
                  </a:solidFill>
                </a:rPr>
                <a:t>Filter by skills, experience, ratings, and rates</a:t>
              </a:r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1B40BF45-4367-A956-3DE8-ED449039917F}"/>
                </a:ext>
              </a:extLst>
            </p:cNvPr>
            <p:cNvSpPr/>
            <p:nvPr/>
          </p:nvSpPr>
          <p:spPr>
            <a:xfrm>
              <a:off x="312424" y="4295414"/>
              <a:ext cx="3971544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600" b="1" dirty="0">
                  <a:solidFill>
                    <a:srgbClr val="2C3E50"/>
                  </a:solidFill>
                </a:rPr>
                <a:t>Analytics Dashboard</a:t>
              </a:r>
            </a:p>
            <a:p>
              <a:r>
                <a:rPr lang="en-US" sz="1400" dirty="0">
                  <a:solidFill>
                    <a:srgbClr val="2C3E50"/>
                  </a:solidFill>
                </a:rPr>
                <a:t>Track project progress and spending insights</a:t>
              </a:r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0BA79863-5123-616C-E3A3-B44D2F70D662}"/>
                </a:ext>
              </a:extLst>
            </p:cNvPr>
            <p:cNvSpPr/>
            <p:nvPr/>
          </p:nvSpPr>
          <p:spPr>
            <a:xfrm>
              <a:off x="323808" y="5157192"/>
              <a:ext cx="3960160" cy="540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C3E50"/>
                  </a:solidFill>
                </a:rPr>
                <a:t>Direct Communication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2C3E50"/>
                  </a:solidFill>
                </a:rPr>
                <a:t>In-platform secure messaging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038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B0A0B8-06FC-519C-3D5C-1DA8A1F3DBEC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8FF11DC0-1BA9-5389-66E4-E8074540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04AC445-8958-419E-C298-3E009E75C1E8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169A4-3286-D353-32E7-4FF13326DEE5}"/>
              </a:ext>
            </a:extLst>
          </p:cNvPr>
          <p:cNvSpPr txBox="1"/>
          <p:nvPr/>
        </p:nvSpPr>
        <p:spPr>
          <a:xfrm>
            <a:off x="3131840" y="3244334"/>
            <a:ext cx="146078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Landing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70C00-5EB9-4921-C30F-7B5D5ECDE9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977" y="692696"/>
            <a:ext cx="2543033" cy="59965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37F97-B988-7D6A-423E-8D973C0108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5451" y="796581"/>
            <a:ext cx="2353100" cy="5264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1099C4-F7CE-40E0-E554-DA1B5E91A224}"/>
              </a:ext>
            </a:extLst>
          </p:cNvPr>
          <p:cNvSpPr txBox="1"/>
          <p:nvPr/>
        </p:nvSpPr>
        <p:spPr>
          <a:xfrm>
            <a:off x="7164288" y="3244334"/>
            <a:ext cx="18105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Client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1581-30FF-FE5D-29BA-207FB10C4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D53FC4-B7D3-D158-7697-23173BC7F6B6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4CF2C313-65FF-4832-4B4C-D62B2E36A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CB05E6E-59CA-12AA-1EEA-BECA1B62AD18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D648A-054B-F256-9DD6-A508659F59DC}"/>
              </a:ext>
            </a:extLst>
          </p:cNvPr>
          <p:cNvSpPr txBox="1"/>
          <p:nvPr/>
        </p:nvSpPr>
        <p:spPr>
          <a:xfrm>
            <a:off x="1665119" y="4653136"/>
            <a:ext cx="13996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Sign-up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400C6B-33BB-8B14-F7B4-D8EFE81BDD12}"/>
              </a:ext>
            </a:extLst>
          </p:cNvPr>
          <p:cNvSpPr txBox="1"/>
          <p:nvPr/>
        </p:nvSpPr>
        <p:spPr>
          <a:xfrm>
            <a:off x="6131527" y="4653136"/>
            <a:ext cx="124660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Log in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862615-0E96-79CC-C720-0F2AEA5D6C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879" y="2158198"/>
            <a:ext cx="3982097" cy="19988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6FB920-ED07-95E0-A386-F2E4E4AD32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1191" y="2158198"/>
            <a:ext cx="3987273" cy="19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8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368F-DBD6-5EC0-C1EF-458330ED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61A3F7-AE35-7872-FFA0-242C21734F35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F4A44EAA-EE0D-1ACD-7D4E-8D0430CD7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6709439-8BA0-EEC0-55E6-7B53D36D79C3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CAD8-DB80-BA5B-91F9-EF51AFA27A0A}"/>
              </a:ext>
            </a:extLst>
          </p:cNvPr>
          <p:cNvSpPr txBox="1"/>
          <p:nvPr/>
        </p:nvSpPr>
        <p:spPr>
          <a:xfrm>
            <a:off x="1444191" y="5730696"/>
            <a:ext cx="178607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Job Posting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CC1BA-A2BD-E2D4-1D5F-0471A11BFAF5}"/>
              </a:ext>
            </a:extLst>
          </p:cNvPr>
          <p:cNvSpPr txBox="1"/>
          <p:nvPr/>
        </p:nvSpPr>
        <p:spPr>
          <a:xfrm>
            <a:off x="5629655" y="5730696"/>
            <a:ext cx="225783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Job Application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4FF94B-6490-2AAC-A7F8-FBCB773433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289" y="980728"/>
            <a:ext cx="3707881" cy="44644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18865A-6D99-E7F7-F617-C84E873B8D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832" y="1530306"/>
            <a:ext cx="3507600" cy="336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4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7A7C-2A8E-EBB5-10A1-710D30BB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E1BCBC-3E85-8172-41FC-3FA31102CCC4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11DAF682-0F27-8C13-3B51-133DE82B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BD3ED3A-9676-AFE8-8911-2547F3253DE2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B0F95-2D1B-8705-B77A-B1242497B194}"/>
              </a:ext>
            </a:extLst>
          </p:cNvPr>
          <p:cNvSpPr txBox="1"/>
          <p:nvPr/>
        </p:nvSpPr>
        <p:spPr>
          <a:xfrm>
            <a:off x="1057732" y="5730696"/>
            <a:ext cx="26282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Simplified Contracts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3C323-7F1B-4182-5273-94E4A2D3752F}"/>
              </a:ext>
            </a:extLst>
          </p:cNvPr>
          <p:cNvSpPr txBox="1"/>
          <p:nvPr/>
        </p:nvSpPr>
        <p:spPr>
          <a:xfrm>
            <a:off x="5629655" y="5730696"/>
            <a:ext cx="225783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Job Negotiation 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2EFD80-E84A-3458-BDFA-D2AAE7D8D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44" y="1429894"/>
            <a:ext cx="4234348" cy="3998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DF7AF0-8F4E-CE97-C67F-1989899DF2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1882" y="1772816"/>
            <a:ext cx="399699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99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E9C3-2CD8-1DBB-B4B4-7A30D328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10E13B-917E-4379-640E-246E2C7B9257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3863FCAF-A74B-8C96-497D-FB92A977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E278D22-6AAD-2421-BC0F-D1C453C9A0FF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B259-A4A9-7CF5-4D8D-063B87BB727E}"/>
              </a:ext>
            </a:extLst>
          </p:cNvPr>
          <p:cNvSpPr txBox="1"/>
          <p:nvPr/>
        </p:nvSpPr>
        <p:spPr>
          <a:xfrm>
            <a:off x="872749" y="5730696"/>
            <a:ext cx="262821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b="1" u="sng" dirty="0">
                <a:latin typeface="+mj-lt"/>
              </a:rPr>
              <a:t>Real-time Notification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54820-4462-43BE-0608-09896A400C80}"/>
              </a:ext>
            </a:extLst>
          </p:cNvPr>
          <p:cNvSpPr txBox="1"/>
          <p:nvPr/>
        </p:nvSpPr>
        <p:spPr>
          <a:xfrm>
            <a:off x="5340843" y="5592197"/>
            <a:ext cx="257765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b="1" u="sng" dirty="0">
                <a:latin typeface="+mj-lt"/>
              </a:rPr>
              <a:t>Milestone System With Activity Timeline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CBB7E2-C6EA-9EF4-1951-0508DEC77A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552" y="1429894"/>
            <a:ext cx="3294611" cy="3998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22D718-B2E0-ACFF-5C91-ED24711E4D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0843" y="1052736"/>
            <a:ext cx="2577651" cy="45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6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86DA-B780-A56B-A6F5-9B03AAE9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B16494-DA66-E468-BEC4-2C9937A2C378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313096B4-AD65-D862-2D30-3AF68C8B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9CACF17-92B1-E8E6-763A-CA977045621B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DFEE2B-1673-DE39-EDE8-D36A8491983E}"/>
              </a:ext>
            </a:extLst>
          </p:cNvPr>
          <p:cNvSpPr txBox="1"/>
          <p:nvPr/>
        </p:nvSpPr>
        <p:spPr>
          <a:xfrm>
            <a:off x="3660668" y="5939988"/>
            <a:ext cx="1822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Live Chat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D3AE6-6EA4-AD6F-213B-A21331CB4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47" y="1049370"/>
            <a:ext cx="8460907" cy="47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0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A5C41-E1E7-D485-BB16-08E62522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6EB11F-93EA-BF98-8112-0C8947484D63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58F8E0AC-1F7E-781E-AF0A-AE1C4E9D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61C7610-39A2-2E15-D73A-5B620E6030E7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11B6D-F5B0-0116-2480-B3CC2D99F746}"/>
              </a:ext>
            </a:extLst>
          </p:cNvPr>
          <p:cNvSpPr txBox="1"/>
          <p:nvPr/>
        </p:nvSpPr>
        <p:spPr>
          <a:xfrm>
            <a:off x="1134090" y="5730696"/>
            <a:ext cx="23621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Simplified Profile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75292-F49D-B146-8161-319948B02709}"/>
              </a:ext>
            </a:extLst>
          </p:cNvPr>
          <p:cNvSpPr txBox="1"/>
          <p:nvPr/>
        </p:nvSpPr>
        <p:spPr>
          <a:xfrm>
            <a:off x="5386764" y="5730696"/>
            <a:ext cx="26867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Freelancer searching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EA463D-9126-B9EB-FB56-4765063778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406" y="930934"/>
            <a:ext cx="3690553" cy="4620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0F15D8-611C-B136-F8F5-887AB380B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4606" y="794258"/>
            <a:ext cx="3313818" cy="489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92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C81B-BDF3-E490-8CE5-5BE0BC99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79A7AB-718C-3819-D9A8-5FF657F16A68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997EEF73-3358-8A97-FC1A-F097CC1F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B259AC3-C098-7CCB-5D3D-034E25A90B78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16810-08A7-BBF2-8AB7-C9164B123A2C}"/>
              </a:ext>
            </a:extLst>
          </p:cNvPr>
          <p:cNvSpPr txBox="1"/>
          <p:nvPr/>
        </p:nvSpPr>
        <p:spPr>
          <a:xfrm>
            <a:off x="766988" y="5730696"/>
            <a:ext cx="30963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Spending Analytics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7C82B-81C2-81FC-6F13-8C197A778343}"/>
              </a:ext>
            </a:extLst>
          </p:cNvPr>
          <p:cNvSpPr txBox="1"/>
          <p:nvPr/>
        </p:nvSpPr>
        <p:spPr>
          <a:xfrm>
            <a:off x="5235020" y="5730696"/>
            <a:ext cx="29902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Freelancer wallet mechanism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CFF0D6-1B47-6EE4-AB72-9993CEDA6F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5280" y="1218603"/>
            <a:ext cx="3930696" cy="44207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F52AF7-E960-CFE3-444F-33C061897B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1664082"/>
            <a:ext cx="4132106" cy="352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37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FD78-5C27-2D5A-3A17-086F8E99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44CE80-270A-B100-52BD-C242288ED6E2}"/>
              </a:ext>
            </a:extLst>
          </p:cNvPr>
          <p:cNvSpPr txBox="1"/>
          <p:nvPr/>
        </p:nvSpPr>
        <p:spPr>
          <a:xfrm>
            <a:off x="572042" y="-27384"/>
            <a:ext cx="796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USER INTERFACE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012697AD-9392-2444-5192-C95417D1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086EE70-90CC-D2ED-5569-6536268B1877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26CFD-867A-C272-1FD9-952D28FA59CD}"/>
              </a:ext>
            </a:extLst>
          </p:cNvPr>
          <p:cNvSpPr txBox="1"/>
          <p:nvPr/>
        </p:nvSpPr>
        <p:spPr>
          <a:xfrm>
            <a:off x="1060726" y="5730696"/>
            <a:ext cx="250886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Simplified Settings Page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591C4-0497-1D54-ADB1-DBE19FC23DA1}"/>
              </a:ext>
            </a:extLst>
          </p:cNvPr>
          <p:cNvSpPr txBox="1"/>
          <p:nvPr/>
        </p:nvSpPr>
        <p:spPr>
          <a:xfrm>
            <a:off x="5693501" y="5730696"/>
            <a:ext cx="207328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b="1" u="sng" dirty="0">
                <a:latin typeface="+mj-lt"/>
              </a:rPr>
              <a:t>24/7 Client Support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CD5D8E-E5F7-A1B9-1639-5E5DCFA463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533" y="942188"/>
            <a:ext cx="3297255" cy="44911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F301C9-25CB-FED5-223F-9B8F12BAC5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0608" y="1614010"/>
            <a:ext cx="3739071" cy="325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5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472" y="428604"/>
            <a:ext cx="4792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63B4475F-BE3F-8FB4-B36A-2B14BBDFF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6DD7C8-B92F-DC36-07EC-794F7B41B9EA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CBAD614-987C-0DF2-1F14-CA166C2C079F}"/>
              </a:ext>
            </a:extLst>
          </p:cNvPr>
          <p:cNvGrpSpPr/>
          <p:nvPr/>
        </p:nvGrpSpPr>
        <p:grpSpPr>
          <a:xfrm>
            <a:off x="457200" y="1196752"/>
            <a:ext cx="8229600" cy="1376184"/>
            <a:chOff x="457200" y="1188720"/>
            <a:chExt cx="8229600" cy="1376184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1A10F304-838C-9EB6-BE0A-12C47AB93AE2}"/>
                </a:ext>
              </a:extLst>
            </p:cNvPr>
            <p:cNvSpPr/>
            <p:nvPr/>
          </p:nvSpPr>
          <p:spPr>
            <a:xfrm>
              <a:off x="457200" y="1188720"/>
              <a:ext cx="8229600" cy="137618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B1061F11-48DA-6992-73B0-355CA28E7CF2}"/>
                </a:ext>
              </a:extLst>
            </p:cNvPr>
            <p:cNvSpPr/>
            <p:nvPr/>
          </p:nvSpPr>
          <p:spPr>
            <a:xfrm>
              <a:off x="731520" y="1280160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8090"/>
                  </a:solidFill>
                </a:rPr>
                <a:t>Advanced AI Features</a:t>
              </a:r>
              <a:endParaRPr lang="en-US" sz="2000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2432D196-ABF3-17C3-2E6A-0AD044B1E17E}"/>
                </a:ext>
              </a:extLst>
            </p:cNvPr>
            <p:cNvSpPr/>
            <p:nvPr/>
          </p:nvSpPr>
          <p:spPr>
            <a:xfrm>
              <a:off x="731520" y="1645920"/>
              <a:ext cx="7772400" cy="8469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/>
                <a:t>• Proactive skill-gap analysis and suggestions for freelancers</a:t>
              </a:r>
            </a:p>
            <a:p>
              <a:pPr marL="0" indent="0">
                <a:buNone/>
              </a:pPr>
              <a:r>
                <a:rPr lang="en-US" sz="1600" dirty="0"/>
                <a:t>• AI-assisted project scoping and requirement generation for employers</a:t>
              </a:r>
            </a:p>
            <a:p>
              <a:pPr marL="0" indent="0">
                <a:buNone/>
              </a:pPr>
              <a:r>
                <a:rPr lang="en-US" sz="1600" dirty="0"/>
                <a:t>• Predictive analytics for project success rates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C61DCC-5F9F-2CD6-4D53-37A7CFF72E49}"/>
              </a:ext>
            </a:extLst>
          </p:cNvPr>
          <p:cNvGrpSpPr/>
          <p:nvPr/>
        </p:nvGrpSpPr>
        <p:grpSpPr>
          <a:xfrm>
            <a:off x="457200" y="2844904"/>
            <a:ext cx="8229600" cy="1376184"/>
            <a:chOff x="457200" y="1188720"/>
            <a:chExt cx="8229600" cy="1376184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2C6249EA-98C2-FB42-DD67-54653C8ABB9A}"/>
                </a:ext>
              </a:extLst>
            </p:cNvPr>
            <p:cNvSpPr/>
            <p:nvPr/>
          </p:nvSpPr>
          <p:spPr>
            <a:xfrm>
              <a:off x="457200" y="1188720"/>
              <a:ext cx="8229600" cy="137618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Text 3">
              <a:extLst>
                <a:ext uri="{FF2B5EF4-FFF2-40B4-BE49-F238E27FC236}">
                  <a16:creationId xmlns:a16="http://schemas.microsoft.com/office/drawing/2014/main" id="{B98B5FB0-3CAA-7508-67D9-07037F1D7127}"/>
                </a:ext>
              </a:extLst>
            </p:cNvPr>
            <p:cNvSpPr/>
            <p:nvPr/>
          </p:nvSpPr>
          <p:spPr>
            <a:xfrm>
              <a:off x="731520" y="1280160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8090"/>
                  </a:solidFill>
                </a:rPr>
                <a:t>Localization &amp; Integration</a:t>
              </a:r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EDA9E2D4-5C67-14DF-FAEB-62C2915146B8}"/>
                </a:ext>
              </a:extLst>
            </p:cNvPr>
            <p:cNvSpPr/>
            <p:nvPr/>
          </p:nvSpPr>
          <p:spPr>
            <a:xfrm>
              <a:off x="731520" y="1645920"/>
              <a:ext cx="7772400" cy="8469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/>
                <a:t>• Seamless UPI integration for instant payments</a:t>
              </a:r>
            </a:p>
            <a:p>
              <a:pPr marL="0" indent="0">
                <a:buNone/>
              </a:pPr>
              <a:r>
                <a:rPr lang="en-US" sz="1600" dirty="0"/>
                <a:t>• Automated TDS compliance and tax documentation</a:t>
              </a:r>
            </a:p>
            <a:p>
              <a:pPr marL="0" indent="0">
                <a:buNone/>
              </a:pPr>
              <a:r>
                <a:rPr lang="en-US" sz="1600" dirty="0"/>
                <a:t>• Multi-language support for Tier 2/3 city accessibility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1A8E6-C11F-794E-FE59-311EC1D7CEC1}"/>
              </a:ext>
            </a:extLst>
          </p:cNvPr>
          <p:cNvGrpSpPr/>
          <p:nvPr/>
        </p:nvGrpSpPr>
        <p:grpSpPr>
          <a:xfrm>
            <a:off x="457200" y="4501088"/>
            <a:ext cx="8229600" cy="1376184"/>
            <a:chOff x="457200" y="1252696"/>
            <a:chExt cx="8229600" cy="1376184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1CC8DCA7-9183-79D9-073B-DCCC94426B23}"/>
                </a:ext>
              </a:extLst>
            </p:cNvPr>
            <p:cNvSpPr/>
            <p:nvPr/>
          </p:nvSpPr>
          <p:spPr>
            <a:xfrm>
              <a:off x="457200" y="1252696"/>
              <a:ext cx="8229600" cy="137618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FDF50AD4-CDE1-F412-3EC2-0BF09B224E6F}"/>
                </a:ext>
              </a:extLst>
            </p:cNvPr>
            <p:cNvSpPr/>
            <p:nvPr/>
          </p:nvSpPr>
          <p:spPr>
            <a:xfrm>
              <a:off x="731520" y="1280160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28090"/>
                  </a:solidFill>
                </a:rPr>
                <a:t>Platform Expansion</a:t>
              </a: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20416262-EF60-6CB4-BB41-14E61E559C78}"/>
                </a:ext>
              </a:extLst>
            </p:cNvPr>
            <p:cNvSpPr/>
            <p:nvPr/>
          </p:nvSpPr>
          <p:spPr>
            <a:xfrm>
              <a:off x="731520" y="1645920"/>
              <a:ext cx="7772400" cy="8469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/>
                <a:t>• Industry-specific vertical marketplaces</a:t>
              </a:r>
            </a:p>
            <a:p>
              <a:pPr marL="0" indent="0">
                <a:buNone/>
              </a:pPr>
              <a:r>
                <a:rPr lang="en-US" sz="1600" dirty="0"/>
                <a:t>• Native mobile applications (iOS and Android)</a:t>
              </a:r>
            </a:p>
            <a:p>
              <a:pPr marL="0" indent="0">
                <a:buNone/>
              </a:pPr>
              <a:r>
                <a:rPr lang="en-US" sz="1600" dirty="0"/>
                <a:t>• Advanced collaboration tools and workspace features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642918"/>
            <a:ext cx="3929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348" y="2305616"/>
            <a:ext cx="77153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freelancing platform addresses the growing need for a reliable and structured system to connect freelancers and employers in India's expanding gig economy.</a:t>
            </a:r>
          </a:p>
          <a:p>
            <a:endParaRPr lang="en-IN" sz="1600" dirty="0"/>
          </a:p>
          <a:p>
            <a:r>
              <a:rPr lang="en-IN" sz="1600" dirty="0"/>
              <a:t>By integrating comprehensive profile management, structured job posting, secure escrow payments, and milestone-based tracking, the platform significantly enhances: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Operational efficiency for both parties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Transparency in transactions and communications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trust through verified ratings and secure payments</a:t>
            </a:r>
          </a:p>
          <a:p>
            <a:endParaRPr lang="en-IN" sz="1600" dirty="0"/>
          </a:p>
          <a:p>
            <a:r>
              <a:rPr lang="en-IN" sz="1600" dirty="0"/>
              <a:t>Overall, the system contributes to improved employment accessibility, better utilization of skilled talent, and supports the sustainable growth of India's freelance ecosystem.</a:t>
            </a:r>
          </a:p>
        </p:txBody>
      </p:sp>
      <p:pic>
        <p:nvPicPr>
          <p:cNvPr id="5" name="Picture 4" descr="A red circle with white border&#10;&#10;AI-generated content may be incorrect.">
            <a:extLst>
              <a:ext uri="{FF2B5EF4-FFF2-40B4-BE49-F238E27FC236}">
                <a16:creationId xmlns:a16="http://schemas.microsoft.com/office/drawing/2014/main" id="{366EF8F3-8D63-259F-522C-EC81F703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16" y="6093296"/>
            <a:ext cx="542925" cy="533400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0BFD38A-FEB4-2977-24D9-B73B49CFF258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piece of paper with blue text&#10;&#10;AI-generated content may be incorrect.">
            <a:extLst>
              <a:ext uri="{FF2B5EF4-FFF2-40B4-BE49-F238E27FC236}">
                <a16:creationId xmlns:a16="http://schemas.microsoft.com/office/drawing/2014/main" id="{6D36D653-901A-0A81-092D-0E5294DC3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38F4E45-0C9D-F265-3CD2-9954E53975B9}"/>
              </a:ext>
            </a:extLst>
          </p:cNvPr>
          <p:cNvSpPr txBox="1">
            <a:spLocks/>
          </p:cNvSpPr>
          <p:nvPr/>
        </p:nvSpPr>
        <p:spPr>
          <a:xfrm>
            <a:off x="7893867" y="210901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- </a:t>
            </a:r>
            <a:fld id="{B08990DB-0E12-4473-8C90-EF58CE838E3E}" type="slidenum">
              <a:rPr lang="en-US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760</Words>
  <Application>Microsoft Office PowerPoint</Application>
  <PresentationFormat>On-screen Show (4:3)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koustavmondal827@gmail.com</dc:creator>
  <cp:lastModifiedBy>BIJOY PANTU</cp:lastModifiedBy>
  <cp:revision>27</cp:revision>
  <dcterms:created xsi:type="dcterms:W3CDTF">2025-12-16T12:43:18Z</dcterms:created>
  <dcterms:modified xsi:type="dcterms:W3CDTF">2026-07-20T08:11:26Z</dcterms:modified>
</cp:coreProperties>
</file>